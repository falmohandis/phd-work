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3" r:id="rId5"/>
    <p:sldId id="266" r:id="rId6"/>
    <p:sldId id="257" r:id="rId7"/>
    <p:sldId id="273" r:id="rId8"/>
    <p:sldId id="267" r:id="rId9"/>
    <p:sldId id="258" r:id="rId10"/>
    <p:sldId id="274" r:id="rId11"/>
    <p:sldId id="269" r:id="rId12"/>
    <p:sldId id="259" r:id="rId13"/>
    <p:sldId id="275" r:id="rId14"/>
    <p:sldId id="271" r:id="rId15"/>
    <p:sldId id="261" r:id="rId16"/>
    <p:sldId id="277" r:id="rId17"/>
    <p:sldId id="272" r:id="rId18"/>
    <p:sldId id="260" r:id="rId19"/>
    <p:sldId id="276" r:id="rId20"/>
    <p:sldId id="264" r:id="rId21"/>
    <p:sldId id="27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C34088-D26C-59F7-8B65-2C68B596E3CD}" name="Rahbar, Ellie" initials="RE" userId="S::erahbar@tamu.edu::dfd13496-9cdf-49bc-8a35-c745d6b63aa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AEB93C-696B-2BB8-6F74-3B30D571AA8A}" v="9" dt="2025-08-07T00:58:00.261"/>
    <p1510:client id="{86609F41-19EA-822B-35EA-BC6CAD6EB878}" v="218" dt="2025-08-07T16:45:28.9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99"/>
    <p:restoredTop sz="94658"/>
  </p:normalViewPr>
  <p:slideViewPr>
    <p:cSldViewPr snapToGrid="0">
      <p:cViewPr>
        <p:scale>
          <a:sx n="111" d="100"/>
          <a:sy n="111" d="100"/>
        </p:scale>
        <p:origin x="115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03D66-F5A3-A21F-25AE-3FE05255D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9155D-A6BA-59CF-7532-DBED46371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0D55B-1BCD-1985-2509-0F6D6AD1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818B6-F9B1-5330-3707-16891C7F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E9EC-697C-B68C-28B4-FF3559D2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0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023CD-6364-6DC9-D851-C9590AD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5012-94C0-2FAC-8758-DA200478B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0C292-D194-428C-1162-509D06500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37037-F156-98AA-A389-56BB6A469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60265-CA7D-08F4-1DAF-7C893C1A8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84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5A83C-6C4A-D562-2B2E-EF142517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5914-3839-A0F8-B747-BEDFFAB6B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E4553-FA0D-746F-1F31-1EBD95A2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E662F-D7CB-4412-1B1C-65C54126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DBBD-ECDE-F50A-84D7-36201DB0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1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72B0-A1D4-EB36-17A8-336101AF2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04DC2-7FBD-06DF-AFAF-3ECA476ED7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A4F76-677D-840B-299D-3039E979C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A0AC3-3272-1693-BA38-1A48C4BA7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E1F25-A4FE-0060-FF31-00E6FD63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7F16B6-162F-7C28-8B61-751211F2A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67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4F08-C913-F073-074A-3FF79B8C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3D91BD-5125-20E1-53D1-C4AEFE0A0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27FB0-61DF-1ED5-B1A5-C8A1346C3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C3CB9-4444-2387-9602-81ED54D54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5DF9D3-2433-87EE-F51B-F56AE52706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431E7-8364-7A76-8AAB-37C0B874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798C8-EB45-B57D-F858-5ABC67BF3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F0CD2-C730-07A3-30CE-646385AAB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8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EF1F-9F6A-2B33-3A82-F6C883CDB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74592-E9BB-4417-2629-7BE55F160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561EC-0409-F8FD-3949-E800281D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12133-D11A-63B5-D957-57A62AEBC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23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E7D95D-7BD8-9C6F-91C6-7BCFB31B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92794-6360-0CA6-402A-BAB8C949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233AA-1493-8A2A-1418-972628B3D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56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B88D-D5A0-FD74-842A-AF2269D9F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E51E-B217-E914-E76A-FE706683E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4A7E3-69BA-AB68-4640-5F5792767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68D38-9558-D630-36E5-112DB8F1D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411BF-D3A7-4BBD-4714-7F8B16D2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B66DA-0579-4E7C-9659-508E30A0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9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F8A0B-A994-16D9-6861-443066A18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6272A4-4074-12F9-DB57-840D6B1A0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78554-4117-D058-27E8-6A6BC4AF5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A249B-14C3-C48F-E81E-25C5434CF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9F558-DF21-C3EA-4C19-01FA59C51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ADEC0-492A-6393-96B1-3FE18A259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77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84D6-9CB0-D1E8-C57A-E9DDAB7C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17D7E-20F5-D55B-9560-B1716AF0C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4FBCA-E190-B9CE-E384-F3828883C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584EA-D263-507A-9DF2-25BD1A2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C8713-EDF8-B534-5705-C5CEFDDAC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6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3477D3-7221-1540-615F-D5397B87A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0DE415-2113-8B89-00EF-7B3875957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71010-D77B-D70D-5E1A-19F46033A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302E4-C72D-73B5-A902-F03FB7C3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CD64-44E3-8021-8ECA-406CE496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64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F4281-1C25-5326-D14D-332DD60F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7CB61-5292-4EA2-FDEC-6586B4D6D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6747B-A96A-3822-F6F7-4201DBC7F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022AC-5A92-5948-882F-5946C1576AD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8C1A2-2FF8-3419-653F-F15B4E157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43E74-59A0-A730-4AB7-50CE0C141C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6071D3-835E-1149-99E5-8D767CF61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323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almohandis/AI-and-Advanced-Modeling-Techniques-for-Optimizing-Resuscitation-Strategies-in-Hemorrhagic-Shock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F2E0E-8B0D-2C90-9738-C0D62059F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3" y="4751571"/>
            <a:ext cx="5991497" cy="1937077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r>
              <a:rPr lang="en-US" sz="1300" b="1"/>
              <a:t>Synthetic Hemorrhage Level</a:t>
            </a:r>
            <a:r>
              <a:rPr lang="en-US" sz="1300"/>
              <a:t>: Target hemorrhage level in the synthetic data (e.g., 10, 20, 30).</a:t>
            </a:r>
          </a:p>
          <a:p>
            <a:r>
              <a:rPr lang="en-US" sz="1300" b="1"/>
              <a:t>Original Hemorrhage Level</a:t>
            </a:r>
            <a:r>
              <a:rPr lang="en-US" sz="1300"/>
              <a:t>: The starting hemorrhage level (20% or 30%).</a:t>
            </a:r>
          </a:p>
          <a:p>
            <a:r>
              <a:rPr lang="en-US" sz="1300" b="1"/>
              <a:t>Original Time Point Sampled</a:t>
            </a:r>
            <a:r>
              <a:rPr lang="en-US" sz="1300"/>
              <a:t>: When the original sample was taken (</a:t>
            </a:r>
            <a:r>
              <a:rPr lang="en-US" sz="1300" err="1"/>
              <a:t>e.g</a:t>
            </a:r>
            <a:r>
              <a:rPr lang="en-US" sz="1300"/>
              <a:t> time = 10,15,20 or 30).</a:t>
            </a:r>
          </a:p>
          <a:p>
            <a:r>
              <a:rPr lang="en-US" sz="1300" b="1"/>
              <a:t>Synthetic Time Point</a:t>
            </a:r>
            <a:r>
              <a:rPr lang="en-US" sz="1300"/>
              <a:t>: The time when the synthetic version of that data was taken (time=30).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56EED-6167-129A-2E29-F349EEF77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964" y="52251"/>
            <a:ext cx="10148070" cy="43727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0A3872-431B-DE16-6811-4B2B57AF09FB}"/>
                  </a:ext>
                </a:extLst>
              </p:cNvPr>
              <p:cNvSpPr txBox="1"/>
              <p:nvPr/>
            </p:nvSpPr>
            <p:spPr>
              <a:xfrm>
                <a:off x="6200504" y="5318172"/>
                <a:ext cx="5991496" cy="8038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/>
                  <a:t>Calculated Hemorrhage Rate</a:t>
                </a:r>
                <a:r>
                  <a:rPr lang="en-US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𝑆𝑦𝑛𝑡h𝑒𝑡𝑖𝑐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𝐻𝑒𝑚𝑜𝑟𝑟h𝑎𝑔𝑒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𝐿𝑒𝑣𝑒𝑙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𝑂𝑟𝑖𝑔𝑖𝑖𝑛𝑎𝑙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𝑇𝑖𝑚𝑒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𝑃𝑜𝑖𝑛𝑡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𝑆𝑎𝑚𝑝𝑙𝑒𝑑</m:t>
                        </m:r>
                      </m:den>
                    </m:f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0A3872-431B-DE16-6811-4B2B57AF0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504" y="5318172"/>
                <a:ext cx="5991496" cy="803874"/>
              </a:xfrm>
              <a:prstGeom prst="rect">
                <a:avLst/>
              </a:prstGeom>
              <a:blipFill>
                <a:blip r:embed="rId4"/>
                <a:stretch>
                  <a:fillRect l="-8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24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2911C-48E6-1EBA-AEFA-C300BF9D39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Cardiac 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99CD7-2E7D-57B9-0D8B-1C1265B9D9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320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379270F-5812-2993-F642-61722ECCD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351" y="0"/>
            <a:ext cx="5973776" cy="46441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1AAD36-44EA-0AA0-4661-A6A95A6C08A5}"/>
              </a:ext>
            </a:extLst>
          </p:cNvPr>
          <p:cNvSpPr txBox="1"/>
          <p:nvPr/>
        </p:nvSpPr>
        <p:spPr>
          <a:xfrm>
            <a:off x="6091990" y="4771662"/>
            <a:ext cx="61000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Cardiac Output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-59.1807x + 4267.8416     R² = 0.9077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1.9967x² + -119.0821x + 4467.5130     R² = 0.9903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1999.5892 * exp(-0.0771x) + 2492.2911     R² = 0.9974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3CEE6E-9EE5-9BEE-6794-2EEF13547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74637" cy="45599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9E2078-6476-C150-7F6C-07AB97D78733}"/>
              </a:ext>
            </a:extLst>
          </p:cNvPr>
          <p:cNvSpPr txBox="1"/>
          <p:nvPr/>
        </p:nvSpPr>
        <p:spPr>
          <a:xfrm>
            <a:off x="341" y="4910161"/>
            <a:ext cx="6100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Cardiac Output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-0.0126x + 0.9139     R² = 0.7604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0.0007x² + -0.0331x + 0.9824     R² = 0.9404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-1040.0387 * exp(0.0000x) + 1040.9526     R² = 0.7603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11BEE-029E-80AB-2A77-F56F636254B0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Hemorrhage Level</a:t>
            </a:r>
          </a:p>
        </p:txBody>
      </p:sp>
    </p:spTree>
    <p:extLst>
      <p:ext uri="{BB962C8B-B14F-4D97-AF65-F5344CB8AC3E}">
        <p14:creationId xmlns:p14="http://schemas.microsoft.com/office/powerpoint/2010/main" val="33739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6CC0-95EC-13B9-6545-51059F2B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E990EDB-D3A2-651F-566E-CD74F36B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101689" y="0"/>
            <a:ext cx="5971100" cy="46441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2699A0-12E3-41AD-0E9A-18842A0E593B}"/>
              </a:ext>
            </a:extLst>
          </p:cNvPr>
          <p:cNvSpPr txBox="1"/>
          <p:nvPr/>
        </p:nvSpPr>
        <p:spPr>
          <a:xfrm>
            <a:off x="6091990" y="4771662"/>
            <a:ext cx="61000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Cardiac Output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-1510.2087x + 4330.6314 R² = 0.9309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1297.7196x² + -2807.9283x + 4474.8225 R² = 0.9921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-4540184.0737 * exp(0.0003x) + 4544514.6523 R² = 0.9309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2F2406F-6AA0-39D7-B5F0-B64F10DA29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922"/>
            <a:ext cx="5874637" cy="45521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CF646F4-828A-6DF0-ED1F-6FA66D27BF63}"/>
              </a:ext>
            </a:extLst>
          </p:cNvPr>
          <p:cNvSpPr txBox="1"/>
          <p:nvPr/>
        </p:nvSpPr>
        <p:spPr>
          <a:xfrm>
            <a:off x="341" y="4910161"/>
            <a:ext cx="6100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Cardiac Output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-0.4093x + 0.9582 R² = 0.8972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0.1861x² + -0.5953x + 0.9788 R² = 0.9137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-846.3047 * exp(0.0005x) + 847.2628 R² = 0.8972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AC7514-5040-371B-D275-78C3F1AC62B8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Hemorrhage Rate</a:t>
            </a:r>
          </a:p>
        </p:txBody>
      </p:sp>
    </p:spTree>
    <p:extLst>
      <p:ext uri="{BB962C8B-B14F-4D97-AF65-F5344CB8AC3E}">
        <p14:creationId xmlns:p14="http://schemas.microsoft.com/office/powerpoint/2010/main" val="3730909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DC49-13B6-539F-39D7-9733590F4E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Heart Rate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04AB4-7065-8A7C-15D6-B374A9C60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90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18251E-57F6-87DF-D6D1-2C5A1B264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1643" cy="4728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E4229-98B4-9884-1C32-94A5B49C230C}"/>
              </a:ext>
            </a:extLst>
          </p:cNvPr>
          <p:cNvSpPr txBox="1"/>
          <p:nvPr/>
        </p:nvSpPr>
        <p:spPr>
          <a:xfrm>
            <a:off x="-1" y="4848727"/>
            <a:ext cx="6091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 Heart Rate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0.0088x + 0.9713     R² = 0.8260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0.0001x² + 0.0062x + 0.9801     R² = 0.8326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0.5182 * exp(0.0138x) + 0.4589     R² = 0.8305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39FC5-B13A-D29A-E95E-7DD9EBF70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6" y="0"/>
            <a:ext cx="6091643" cy="47284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D52B4D-D887-6BEB-E1E1-A3A506433D08}"/>
              </a:ext>
            </a:extLst>
          </p:cNvPr>
          <p:cNvSpPr txBox="1"/>
          <p:nvPr/>
        </p:nvSpPr>
        <p:spPr>
          <a:xfrm>
            <a:off x="6286473" y="4848727"/>
            <a:ext cx="59055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 Heart Rate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1.0739x + 93.1284     R² = 0.9504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0.0122x² + 0.7071x + 94.3510     R² = 0.9602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42.2719 * exp(0.0189x) + 51.8370     R² = 0.9585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6136E9-F14C-401C-BCEF-BED77896F96B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Hemorrhage Level</a:t>
            </a:r>
          </a:p>
        </p:txBody>
      </p:sp>
    </p:spTree>
    <p:extLst>
      <p:ext uri="{BB962C8B-B14F-4D97-AF65-F5344CB8AC3E}">
        <p14:creationId xmlns:p14="http://schemas.microsoft.com/office/powerpoint/2010/main" val="1273303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6894E-D6B1-7014-918E-C917D9E0B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EDBFD4-3F08-C7AD-2143-DEAA970FE9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4066"/>
            <a:ext cx="6091643" cy="4720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F999D-19FD-8800-2151-279F67B99A3E}"/>
              </a:ext>
            </a:extLst>
          </p:cNvPr>
          <p:cNvSpPr txBox="1"/>
          <p:nvPr/>
        </p:nvSpPr>
        <p:spPr>
          <a:xfrm>
            <a:off x="-1" y="4848727"/>
            <a:ext cx="6091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 Heart Rate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0.2054x + 0.9824 R² = 0.9220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0.0755x² + 0.1299x + 0.9908 R² = 0.9330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0.2624 * exp(0.5792x) + 0.7264 R² = 0.9307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7F621-5EA3-C347-D592-DE9FEC795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0356" y="4066"/>
            <a:ext cx="6091643" cy="4720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296BBA-5847-1926-38A5-549F5D1F9738}"/>
              </a:ext>
            </a:extLst>
          </p:cNvPr>
          <p:cNvSpPr txBox="1"/>
          <p:nvPr/>
        </p:nvSpPr>
        <p:spPr>
          <a:xfrm>
            <a:off x="6286473" y="4848727"/>
            <a:ext cx="59055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--- Heart Rate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25.6832x + 90.5648 R² = 0.8080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31.6031x² + -5.9199x + 94.0763 R² = 0.9168</a:t>
            </a:r>
            <a:br>
              <a:rPr lang="en-US" dirty="0"/>
            </a:br>
            <a:r>
              <a:rPr lang="en-US" dirty="0"/>
              <a:t>Exp: y = 4.8029 * exp(1.8692x) + 88.0079 R² = 0.8890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16C854-7496-7617-9AD4-87BEC6855B1B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Hemorrhage Rate</a:t>
            </a:r>
          </a:p>
        </p:txBody>
      </p:sp>
    </p:spTree>
    <p:extLst>
      <p:ext uri="{BB962C8B-B14F-4D97-AF65-F5344CB8AC3E}">
        <p14:creationId xmlns:p14="http://schemas.microsoft.com/office/powerpoint/2010/main" val="222192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3B00-CE1F-6FBE-0916-B1B1769E33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Ejection Fraction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4025DA-275D-3DD6-0465-84C6365C4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35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EFFF57-C5F0-5618-EAA6-C562A2C2A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890137" cy="4571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06B927-119B-A4ED-1745-ED39BEBD0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862" y="0"/>
            <a:ext cx="5890137" cy="4571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3ED6BA-9DFF-FA80-74AB-3A334480E583}"/>
              </a:ext>
            </a:extLst>
          </p:cNvPr>
          <p:cNvSpPr txBox="1"/>
          <p:nvPr/>
        </p:nvSpPr>
        <p:spPr>
          <a:xfrm>
            <a:off x="6096000" y="4571999"/>
            <a:ext cx="61000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Ejection Fraction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-0.0782x + 31.8900     R² = 0.4467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0.0089x² + -0.3464x + 32.7842     R² = 0.9145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-8396.3286 * exp(0.0000x) + 8428.2185     R² = 0.4467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DF9C0-8709-81B9-5A12-7F4A61AFB807}"/>
              </a:ext>
            </a:extLst>
          </p:cNvPr>
          <p:cNvSpPr txBox="1"/>
          <p:nvPr/>
        </p:nvSpPr>
        <p:spPr>
          <a:xfrm>
            <a:off x="0" y="4571999"/>
            <a:ext cx="6100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Ejection Fraction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-0.0049x + 0.9835     R² = 0.8916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0.0001x² + -0.0076x + 0.9926     R² = 0.9162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-426.3210 * exp(0.0000x) + 427.3045     R² = 0.8916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432464-1803-163F-0CC3-43348E89E50C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Hemorrhage Level</a:t>
            </a:r>
          </a:p>
        </p:txBody>
      </p:sp>
    </p:spTree>
    <p:extLst>
      <p:ext uri="{BB962C8B-B14F-4D97-AF65-F5344CB8AC3E}">
        <p14:creationId xmlns:p14="http://schemas.microsoft.com/office/powerpoint/2010/main" val="3779394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BCE77-CC3F-E46A-8C4E-B60A7148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8CA5D6-81A5-11DF-D23E-D9C58EAE3E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933"/>
            <a:ext cx="5890137" cy="45641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C8E3B-E62F-569F-881B-CEEAAF07F2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1862" y="1033"/>
            <a:ext cx="5890137" cy="45699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18CC86-4FBB-9927-AA21-E9E88B844D32}"/>
              </a:ext>
            </a:extLst>
          </p:cNvPr>
          <p:cNvSpPr txBox="1"/>
          <p:nvPr/>
        </p:nvSpPr>
        <p:spPr>
          <a:xfrm>
            <a:off x="6096000" y="4571999"/>
            <a:ext cx="61000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Ejection Fraction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-0.9613x + 30.5630 R² = 0.0236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20.3066x² + -21.2679x + 32.8193 R² = 0.9609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0.0000 * exp(40.8740x) + 29.4218 R² = 0.2410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D83045-54A0-B9FF-7B96-E8C8A64581FA}"/>
              </a:ext>
            </a:extLst>
          </p:cNvPr>
          <p:cNvSpPr txBox="1"/>
          <p:nvPr/>
        </p:nvSpPr>
        <p:spPr>
          <a:xfrm>
            <a:off x="0" y="4571999"/>
            <a:ext cx="61000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Ejection Fraction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-0.0973x + 0.9511 R² = 0.2789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0.5046x² + -0.6019x + 1.0071 R² = 0.9462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-291.9339 * exp(0.0003x) + 292.8849 R² = 0.2788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0878A-006D-DEE3-A350-89A7616688D1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Hemorrhage Rate</a:t>
            </a:r>
          </a:p>
        </p:txBody>
      </p:sp>
    </p:spTree>
    <p:extLst>
      <p:ext uri="{BB962C8B-B14F-4D97-AF65-F5344CB8AC3E}">
        <p14:creationId xmlns:p14="http://schemas.microsoft.com/office/powerpoint/2010/main" val="4151570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F1DCD-4D2A-6753-9A69-51D90226F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Stroke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91C92-86AF-5DCF-B894-595D56C17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06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58683-6486-8A77-16E8-A638D401C367}"/>
              </a:ext>
            </a:extLst>
          </p:cNvPr>
          <p:cNvSpPr txBox="1"/>
          <p:nvPr/>
        </p:nvSpPr>
        <p:spPr>
          <a:xfrm rot="16200000">
            <a:off x="1189723" y="1714555"/>
            <a:ext cx="954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(mL)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7A23F7-9DDA-0BA6-F796-0B914A4FDA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83627"/>
            <a:ext cx="6096000" cy="47236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806EFB-DEDD-A851-DC6A-7BBED1EFB579}"/>
              </a:ext>
            </a:extLst>
          </p:cNvPr>
          <p:cNvSpPr txBox="1"/>
          <p:nvPr/>
        </p:nvSpPr>
        <p:spPr>
          <a:xfrm>
            <a:off x="0" y="4949850"/>
            <a:ext cx="60538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Work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-0.0280x + 0.9031 R² = 0.9258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0.0008x² + -0.0529x + 0.9863 R² = 0.9911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-2934.0782 * exp(0.0000x) + 2934.9814 R² = 0.9258 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BE7C28-9E86-955F-DA55-99AD285D64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9779" y="79558"/>
            <a:ext cx="5920895" cy="46051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637276-9C39-41D4-63BB-90E9BD8C0894}"/>
              </a:ext>
            </a:extLst>
          </p:cNvPr>
          <p:cNvSpPr txBox="1"/>
          <p:nvPr/>
        </p:nvSpPr>
        <p:spPr>
          <a:xfrm>
            <a:off x="6138151" y="4811351"/>
            <a:ext cx="60538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Work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-107.4172x + 3625.8559 R² = 0.9517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2.6978x² + -188.3497x + 3895.6310 R² = 0.9997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-8709691.0776 * exp(0.0000x) + 8713316.8290 R² = 0.9517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ED57A-C2F0-19EA-5893-E5F02E9AF399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Hemorrhage Level</a:t>
            </a:r>
          </a:p>
        </p:txBody>
      </p:sp>
    </p:spTree>
    <p:extLst>
      <p:ext uri="{BB962C8B-B14F-4D97-AF65-F5344CB8AC3E}">
        <p14:creationId xmlns:p14="http://schemas.microsoft.com/office/powerpoint/2010/main" val="1656809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40F3-C942-E06F-1337-32CFB0DC0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D9A6BD-313E-561B-6FE7-AFFC515414B0}"/>
              </a:ext>
            </a:extLst>
          </p:cNvPr>
          <p:cNvSpPr txBox="1"/>
          <p:nvPr/>
        </p:nvSpPr>
        <p:spPr>
          <a:xfrm rot="16200000">
            <a:off x="1189723" y="1714555"/>
            <a:ext cx="954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(mL)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C84E5D-12C6-40E2-A8F8-BD1A90D38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558"/>
            <a:ext cx="6096000" cy="47317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80D6CF-72CE-6BD2-CC45-5F227F5B806A}"/>
              </a:ext>
            </a:extLst>
          </p:cNvPr>
          <p:cNvSpPr txBox="1"/>
          <p:nvPr/>
        </p:nvSpPr>
        <p:spPr>
          <a:xfrm>
            <a:off x="0" y="4949850"/>
            <a:ext cx="605384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Work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-0.7640x + 0.9339     R² = 0.9473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0.6041x² + -1.3682x + 1.0010     R² = 0.9999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-2638.0521 * exp(0.0003x) + 2638.9860     R² = 0.9473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DD0935-9772-3A59-B53B-F3D44B033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453" y="79558"/>
            <a:ext cx="5923548" cy="46051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E68E2D-85B2-CF70-0946-6685E3C13419}"/>
              </a:ext>
            </a:extLst>
          </p:cNvPr>
          <p:cNvSpPr txBox="1"/>
          <p:nvPr/>
        </p:nvSpPr>
        <p:spPr>
          <a:xfrm>
            <a:off x="6138151" y="4811351"/>
            <a:ext cx="60538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Work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-2866.4032x + 3658.3721     R² = 0.9482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2217.8420x² + -5084.2452x + 3904.7990     R² = 0.9986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-8546018.3813 * exp(0.0003x) + 8549676.6792     R² = 0.9481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7E62DA-791B-B0AB-9FD6-9D7E068B75F3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Hemorrhage Rate</a:t>
            </a:r>
          </a:p>
        </p:txBody>
      </p:sp>
    </p:spTree>
    <p:extLst>
      <p:ext uri="{BB962C8B-B14F-4D97-AF65-F5344CB8AC3E}">
        <p14:creationId xmlns:p14="http://schemas.microsoft.com/office/powerpoint/2010/main" val="3935560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B15B-76CA-AD50-20B2-85451CF4F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Stroke Volume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77B7C-67FE-43D7-942E-84D0F41579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85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B87439-662E-BB67-5D84-42E8753E9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36639" cy="46080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47087-F0DA-D7B4-0238-7476C50EF4AC}"/>
              </a:ext>
            </a:extLst>
          </p:cNvPr>
          <p:cNvSpPr txBox="1"/>
          <p:nvPr/>
        </p:nvSpPr>
        <p:spPr>
          <a:xfrm>
            <a:off x="-4010" y="5078742"/>
            <a:ext cx="59476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Volume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-0.0182x + 0.9439     R² = 0.9384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0.0005x² + -0.0335x + 0.9949     R² = 0.9971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0.6617 * exp(-0.0600x) + 0.3373     R² = 0.9995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CD7693-B8E1-5886-A7CA-599CEFDD4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360" y="0"/>
            <a:ext cx="5936639" cy="46080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96ADDF7-D058-D74E-F39A-5D5D61E05FB2}"/>
              </a:ext>
            </a:extLst>
          </p:cNvPr>
          <p:cNvSpPr txBox="1"/>
          <p:nvPr/>
        </p:nvSpPr>
        <p:spPr>
          <a:xfrm>
            <a:off x="6096000" y="4801743"/>
            <a:ext cx="6130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Volume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   y = -0.8387x + 45.1778     R² = 0.9558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0.0200x² + -1.4380x + 47.1756     R² = 0.9991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      y = -67887.0717 * exp(0.0000x) + 67932.2487     R² = 0.9557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0D6AC-6C6B-EF58-0CF6-7C2586C759C8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Hemorrhage Level</a:t>
            </a:r>
          </a:p>
        </p:txBody>
      </p:sp>
    </p:spTree>
    <p:extLst>
      <p:ext uri="{BB962C8B-B14F-4D97-AF65-F5344CB8AC3E}">
        <p14:creationId xmlns:p14="http://schemas.microsoft.com/office/powerpoint/2010/main" val="2531042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6858-4207-6036-7FD6-08A73CB6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84731E-205D-7748-7F56-E04A77AD12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963"/>
            <a:ext cx="5936639" cy="4600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B0BDE86-DB8D-8559-08ED-9699657C0F29}"/>
              </a:ext>
            </a:extLst>
          </p:cNvPr>
          <p:cNvSpPr txBox="1"/>
          <p:nvPr/>
        </p:nvSpPr>
        <p:spPr>
          <a:xfrm>
            <a:off x="-4010" y="5078742"/>
            <a:ext cx="59476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Volume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-0.4863x + 0.9646 R² = 0.9678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0.2405x² + -0.7267x + 0.9913 R² = 0.9888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-1459.8879 * exp(0.0003x) + 1460.8525 R² = 0.9678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FC1871-CBE5-DE99-33B8-175BECC976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5360" y="3963"/>
            <a:ext cx="5936639" cy="46001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8FC2D5-34E7-3E5F-36B4-AF8F355DDC32}"/>
              </a:ext>
            </a:extLst>
          </p:cNvPr>
          <p:cNvSpPr txBox="1"/>
          <p:nvPr/>
        </p:nvSpPr>
        <p:spPr>
          <a:xfrm>
            <a:off x="6096000" y="4801743"/>
            <a:ext cx="61300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--- Stroke Volume (Mean) ---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Linear: y = -20.6825x + 45.5158 R² = 0.9600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Quadratic: y = 14.1465x² + -34.8290x + 47.0876 R² = 0.9999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Exp: y = -69763.7218 * exp(0.0003x) + 69809.2371 R² = 0.9600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33F82-4967-F2BD-1D6A-B8887CBA1140}"/>
              </a:ext>
            </a:extLst>
          </p:cNvPr>
          <p:cNvSpPr txBox="1"/>
          <p:nvPr/>
        </p:nvSpPr>
        <p:spPr>
          <a:xfrm>
            <a:off x="4638542" y="262696"/>
            <a:ext cx="1453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Hemorrhage Rate</a:t>
            </a:r>
          </a:p>
        </p:txBody>
      </p:sp>
    </p:spTree>
    <p:extLst>
      <p:ext uri="{BB962C8B-B14F-4D97-AF65-F5344CB8AC3E}">
        <p14:creationId xmlns:p14="http://schemas.microsoft.com/office/powerpoint/2010/main" val="2828450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F63E-2498-F7AC-BCF3-03B69FD53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Page?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CD999-2239-9FFE-6681-56BB62376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  <a:hlinkClick r:id="rId2"/>
              </a:rPr>
              <a:t>https://github.com/falmohandis/AI-and-Advanced-Modeling-Techniques-for-Optimizing-Resuscitation-Strategies-in-Hemorrhagic-Shock</a:t>
            </a:r>
            <a:endParaRPr lang="en-US"/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9064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D6DA-8060-2CD1-1CE8-8F0651AB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8-Isoprostane Samples Completed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CCCC6E-1031-B142-D203-49911EE95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606763"/>
              </p:ext>
            </p:extLst>
          </p:nvPr>
        </p:nvGraphicFramePr>
        <p:xfrm>
          <a:off x="75237" y="1551008"/>
          <a:ext cx="12041526" cy="4908242"/>
        </p:xfrm>
        <a:graphic>
          <a:graphicData uri="http://schemas.openxmlformats.org/drawingml/2006/table">
            <a:tbl>
              <a:tblPr/>
              <a:tblGrid>
                <a:gridCol w="1293716">
                  <a:extLst>
                    <a:ext uri="{9D8B030D-6E8A-4147-A177-3AD203B41FA5}">
                      <a16:colId xmlns:a16="http://schemas.microsoft.com/office/drawing/2014/main" val="537123212"/>
                    </a:ext>
                  </a:extLst>
                </a:gridCol>
                <a:gridCol w="1177615">
                  <a:extLst>
                    <a:ext uri="{9D8B030D-6E8A-4147-A177-3AD203B41FA5}">
                      <a16:colId xmlns:a16="http://schemas.microsoft.com/office/drawing/2014/main" val="2421992434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1859544255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2342175362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3463810472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1245917811"/>
                    </a:ext>
                  </a:extLst>
                </a:gridCol>
                <a:gridCol w="1227374">
                  <a:extLst>
                    <a:ext uri="{9D8B030D-6E8A-4147-A177-3AD203B41FA5}">
                      <a16:colId xmlns:a16="http://schemas.microsoft.com/office/drawing/2014/main" val="1616947712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1175287836"/>
                    </a:ext>
                  </a:extLst>
                </a:gridCol>
                <a:gridCol w="1194201">
                  <a:extLst>
                    <a:ext uri="{9D8B030D-6E8A-4147-A177-3AD203B41FA5}">
                      <a16:colId xmlns:a16="http://schemas.microsoft.com/office/drawing/2014/main" val="2496693009"/>
                    </a:ext>
                  </a:extLst>
                </a:gridCol>
                <a:gridCol w="1177615">
                  <a:extLst>
                    <a:ext uri="{9D8B030D-6E8A-4147-A177-3AD203B41FA5}">
                      <a16:colId xmlns:a16="http://schemas.microsoft.com/office/drawing/2014/main" val="1028358655"/>
                    </a:ext>
                  </a:extLst>
                </a:gridCol>
              </a:tblGrid>
              <a:tr h="15625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200" b="0" i="0" dirty="0">
                          <a:solidFill>
                            <a:srgbClr val="FFFFFF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No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Partial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Partial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Partial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10%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Full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20%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Full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Aptos" panose="020B0004020202020204" pitchFamily="34" charset="0"/>
                        </a:rPr>
                        <a:t>30%</a:t>
                      </a:r>
                      <a:r>
                        <a:rPr lang="en-US" sz="1600" b="0" i="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 dirty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Aptos" panose="020B0004020202020204" pitchFamily="34" charset="0"/>
                        </a:rPr>
                        <a:t>Full</a:t>
                      </a:r>
                      <a:r>
                        <a:rPr lang="en-US" sz="1600" b="0" i="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 dirty="0">
                        <a:effectLst/>
                      </a:endParaRPr>
                    </a:p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600" b="1" i="0" dirty="0">
                          <a:effectLst/>
                          <a:latin typeface="Aptos" panose="020B0004020202020204" pitchFamily="34" charset="0"/>
                        </a:rPr>
                        <a:t>(N = 6)</a:t>
                      </a:r>
                      <a:r>
                        <a:rPr lang="en-US" sz="1600" b="0" i="0" dirty="0"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28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58740"/>
                  </a:ext>
                </a:extLst>
              </a:tr>
              <a:tr h="167283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Male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 </a:t>
                      </a:r>
                      <a:endParaRPr lang="en-US" sz="3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ERNE-23 </a:t>
                      </a:r>
                      <a:endParaRPr lang="en-US" sz="3200" b="0" i="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ERNE-33 </a:t>
                      </a:r>
                      <a:endParaRPr lang="en-US" sz="3200" b="0" i="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ERNE-61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ERNE-34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ERNE-54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ERNE-72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ERNE-31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ERNE-36 </a:t>
                      </a:r>
                      <a:endParaRPr lang="en-US" sz="3200" b="0" i="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ERNE-52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ERNE-25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ERNE-32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ERNE-62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ERNE-47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ERNE-53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ERNE-71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ERNE-35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ERNE-55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ERNE-64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ERNE-10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ERNE-44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ERNE-70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ERNE-45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ERNE-56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ERNE-63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ERNE-02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ERNE-26 </a:t>
                      </a:r>
                      <a:endParaRPr lang="en-US" sz="3200" b="0" i="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ERNE-65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241593"/>
                  </a:ext>
                </a:extLst>
              </a:tr>
              <a:tr h="167283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en-US" sz="1800" b="1" i="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Female</a:t>
                      </a:r>
                      <a:r>
                        <a:rPr lang="en-US" sz="1800" b="0" i="0" dirty="0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  <a:endParaRPr lang="en-US" sz="3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ERNE-40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ERNE-48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ERNE-67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ERNE-30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ERNE-50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ERNE-60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ERNE-05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ERNE-29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ERNE-66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ERNE-27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ERNE-39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ERNE-58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ERNE-21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ERNE-49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ERNE-51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ERNE-20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ERNE-43 </a:t>
                      </a:r>
                      <a:endParaRPr lang="en-US" sz="3200" b="0" i="0" dirty="0">
                        <a:effectLst/>
                        <a:highlight>
                          <a:srgbClr val="FFFF00"/>
                        </a:highlight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ERNE-68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ERNE-12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ERNE-38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ERNE-59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ERNE-19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ERNE-41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ERNE-69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highlight>
                            <a:srgbClr val="FFFF00"/>
                          </a:highlight>
                          <a:latin typeface="Aptos" panose="020B0004020202020204" pitchFamily="34" charset="0"/>
                        </a:rPr>
                        <a:t>ERNE-07</a:t>
                      </a: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ERNE-14 </a:t>
                      </a:r>
                      <a:endParaRPr lang="en-US" sz="3200" b="0" i="0" dirty="0">
                        <a:effectLst/>
                      </a:endParaRPr>
                    </a:p>
                    <a:p>
                      <a:pPr marL="171450" indent="-171450" algn="just" rtl="0" fontAlgn="base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200" b="0" i="0" dirty="0">
                          <a:effectLst/>
                          <a:latin typeface="Aptos" panose="020B0004020202020204" pitchFamily="34" charset="0"/>
                        </a:rPr>
                        <a:t>ERNE-57 </a:t>
                      </a:r>
                      <a:endParaRPr lang="en-US" sz="3200" b="0" i="0" dirty="0"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625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3835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4FA6CCD1D50E42BFABD05DB49543CA" ma:contentTypeVersion="16" ma:contentTypeDescription="Create a new document." ma:contentTypeScope="" ma:versionID="976dde284ae3fa70ec77e42e6b984945">
  <xsd:schema xmlns:xsd="http://www.w3.org/2001/XMLSchema" xmlns:xs="http://www.w3.org/2001/XMLSchema" xmlns:p="http://schemas.microsoft.com/office/2006/metadata/properties" xmlns:ns2="5d7a4293-4a7e-481c-9ea8-7ec2f5b67556" xmlns:ns3="7f17fc73-8c2b-446b-9f01-6fc65b5cfdb5" targetNamespace="http://schemas.microsoft.com/office/2006/metadata/properties" ma:root="true" ma:fieldsID="ad995ac20ffbceef023adf30193871ac" ns2:_="" ns3:_="">
    <xsd:import namespace="5d7a4293-4a7e-481c-9ea8-7ec2f5b67556"/>
    <xsd:import namespace="7f17fc73-8c2b-446b-9f01-6fc65b5cfd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a4293-4a7e-481c-9ea8-7ec2f5b675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28e5b72-a11e-43e4-996b-2cb2b326d1f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17fc73-8c2b-446b-9f01-6fc65b5cfdb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6a13e0c-034a-420e-ba8f-124cdcbedd3c}" ma:internalName="TaxCatchAll" ma:showField="CatchAllData" ma:web="7f17fc73-8c2b-446b-9f01-6fc65b5cfd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7a4293-4a7e-481c-9ea8-7ec2f5b67556">
      <Terms xmlns="http://schemas.microsoft.com/office/infopath/2007/PartnerControls"/>
    </lcf76f155ced4ddcb4097134ff3c332f>
    <TaxCatchAll xmlns="7f17fc73-8c2b-446b-9f01-6fc65b5cfdb5" xsi:nil="true"/>
  </documentManagement>
</p:properties>
</file>

<file path=customXml/itemProps1.xml><?xml version="1.0" encoding="utf-8"?>
<ds:datastoreItem xmlns:ds="http://schemas.openxmlformats.org/officeDocument/2006/customXml" ds:itemID="{85A3CC00-B5F1-44E9-AB47-12D4528869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D3C82E-F793-40AB-AFED-8898EFD37EE7}">
  <ds:schemaRefs>
    <ds:schemaRef ds:uri="5d7a4293-4a7e-481c-9ea8-7ec2f5b67556"/>
    <ds:schemaRef ds:uri="7f17fc73-8c2b-446b-9f01-6fc65b5cfd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1A00833-8A25-4B2E-906F-3A794FF69FD2}">
  <ds:schemaRefs>
    <ds:schemaRef ds:uri="5d7a4293-4a7e-481c-9ea8-7ec2f5b67556"/>
    <ds:schemaRef ds:uri="7f17fc73-8c2b-446b-9f01-6fc65b5cfdb5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1190</Words>
  <Application>Microsoft Macintosh PowerPoint</Application>
  <PresentationFormat>Widescreen</PresentationFormat>
  <Paragraphs>188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PowerPoint Presentation</vt:lpstr>
      <vt:lpstr>Cardiac Output</vt:lpstr>
      <vt:lpstr>PowerPoint Presentation</vt:lpstr>
      <vt:lpstr>PowerPoint Presentation</vt:lpstr>
      <vt:lpstr>Heart Rate</vt:lpstr>
      <vt:lpstr>PowerPoint Presentation</vt:lpstr>
      <vt:lpstr>PowerPoint Presentation</vt:lpstr>
      <vt:lpstr>Ejection Fraction</vt:lpstr>
      <vt:lpstr>PowerPoint Presentation</vt:lpstr>
      <vt:lpstr>PowerPoint Presentation</vt:lpstr>
      <vt:lpstr>Stroke Work</vt:lpstr>
      <vt:lpstr>PowerPoint Presentation</vt:lpstr>
      <vt:lpstr>PowerPoint Presentation</vt:lpstr>
      <vt:lpstr>Stroke Volume</vt:lpstr>
      <vt:lpstr>PowerPoint Presentation</vt:lpstr>
      <vt:lpstr>PowerPoint Presentation</vt:lpstr>
      <vt:lpstr>GitHub Page?</vt:lpstr>
      <vt:lpstr>8-Isoprostane Samples Completed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Mobin, Fahim</dc:creator>
  <cp:lastModifiedBy>Mobin, Fahim</cp:lastModifiedBy>
  <cp:revision>7</cp:revision>
  <dcterms:created xsi:type="dcterms:W3CDTF">2025-08-06T19:24:58Z</dcterms:created>
  <dcterms:modified xsi:type="dcterms:W3CDTF">2025-08-26T18:56:34Z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0x010100A74FA6CCD1D50E42BFABD05DB49543CA</vt:lpwstr>
  </property>
  <property fmtid="{D5CDD505-2E9C-101B-9397-08002B2CF9AE}" pid="3" name="MediaServiceImageTags">
    <vt:lpwstr/>
  </property>
</Properties>
</file>